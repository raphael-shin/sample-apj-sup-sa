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5124113" cy="1068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0"/>
    <p:restoredTop sz="94651"/>
  </p:normalViewPr>
  <p:slideViewPr>
    <p:cSldViewPr snapToGrid="0" snapToObjects="1">
      <p:cViewPr varScale="1">
        <p:scale>
          <a:sx n="73" d="100"/>
          <a:sy n="73" d="100"/>
        </p:scale>
        <p:origin x="1352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124176" cy="9144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441178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33333"/>
                </a:solidFill>
                <a:latin typeface="Calibri"/>
              </a:defRPr>
            </a:pPr>
            <a:r>
              <a:rPr lang="en-US" dirty="0"/>
              <a:t>GenAI Product C</a:t>
            </a:r>
            <a:r>
              <a:rPr dirty="0"/>
              <a:t>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64592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i="1">
                <a:solidFill>
                  <a:srgbClr val="AAAAAA"/>
                </a:solidFill>
                <a:latin typeface="Calibri"/>
              </a:defRPr>
            </a:pPr>
            <a:r>
              <a:rPr dirty="0"/>
              <a:t>[Company] – [Use case]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E20F2D1-BF1A-4E28-BBDB-179545B8AB26}"/>
              </a:ext>
            </a:extLst>
          </p:cNvPr>
          <p:cNvGrpSpPr/>
          <p:nvPr/>
        </p:nvGrpSpPr>
        <p:grpSpPr>
          <a:xfrm>
            <a:off x="122804" y="988497"/>
            <a:ext cx="2460858" cy="9605210"/>
            <a:chOff x="365760" y="1051559"/>
            <a:chExt cx="2460858" cy="7083900"/>
          </a:xfrm>
        </p:grpSpPr>
        <p:sp>
          <p:nvSpPr>
            <p:cNvPr id="5" name="Rectangle 4"/>
            <p:cNvSpPr/>
            <p:nvPr/>
          </p:nvSpPr>
          <p:spPr>
            <a:xfrm>
              <a:off x="365760" y="1051559"/>
              <a:ext cx="2460858" cy="7083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96540" y="1216152"/>
              <a:ext cx="2131674" cy="38720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r>
                <a:rPr dirty="0"/>
                <a:t>Problem</a:t>
              </a:r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r>
                <a:rPr dirty="0"/>
                <a:t>What problem are you solving? Why does it matter?</a:t>
              </a:r>
            </a:p>
            <a:p>
              <a:pPr>
                <a:spcBef>
                  <a:spcPts val="1400"/>
                </a:spcBef>
                <a:spcAft>
                  <a:spcPts val="600"/>
                </a:spcAft>
              </a:pPr>
              <a:endParaRPr dirty="0"/>
            </a:p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endParaRPr lang="en-US" dirty="0"/>
            </a:p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endParaRPr lang="en-NZ" dirty="0"/>
            </a:p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endParaRPr lang="en-NZ" dirty="0"/>
            </a:p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endParaRPr lang="en-NZ" dirty="0"/>
            </a:p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endParaRPr lang="en-NZ" dirty="0"/>
            </a:p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endParaRPr lang="en-NZ" dirty="0"/>
            </a:p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endParaRPr lang="en-US" dirty="0"/>
            </a:p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endParaRPr lang="en-NZ" dirty="0"/>
            </a:p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endParaRPr lang="en-NZ" dirty="0"/>
            </a:p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r>
                <a:rPr lang="en-US" dirty="0"/>
                <a:t>Existing alternatives</a:t>
              </a:r>
              <a:endParaRPr dirty="0"/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r>
                <a:rPr dirty="0"/>
                <a:t>How is this problem solved today without AI/LLMs?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277978" y="1172320"/>
              <a:ext cx="457200" cy="4114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2200"/>
              </a:pPr>
              <a:r>
                <a:rPr dirty="0"/>
                <a:t>🔒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332408" y="4439649"/>
              <a:ext cx="457200" cy="4114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2200"/>
              </a:pPr>
              <a:r>
                <a:rPr dirty="0"/>
                <a:t>🔀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A057B2D-373F-AF26-0E45-6DAC83FB65A7}"/>
              </a:ext>
            </a:extLst>
          </p:cNvPr>
          <p:cNvGrpSpPr/>
          <p:nvPr/>
        </p:nvGrpSpPr>
        <p:grpSpPr>
          <a:xfrm>
            <a:off x="2668918" y="984313"/>
            <a:ext cx="3024000" cy="3147679"/>
            <a:chOff x="5470355" y="1051560"/>
            <a:chExt cx="2883546" cy="3240450"/>
          </a:xfrm>
        </p:grpSpPr>
        <p:sp>
          <p:nvSpPr>
            <p:cNvPr id="12" name="Rectangle 11"/>
            <p:cNvSpPr/>
            <p:nvPr/>
          </p:nvSpPr>
          <p:spPr>
            <a:xfrm>
              <a:off x="5470355" y="1051560"/>
              <a:ext cx="2883546" cy="32404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634948" y="1216152"/>
              <a:ext cx="2623846" cy="29112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r>
                <a:rPr dirty="0"/>
                <a:t>Inputs</a:t>
              </a:r>
            </a:p>
            <a:p>
              <a:pPr>
                <a:spcAft>
                  <a:spcPts val="500"/>
                </a:spcAft>
                <a:defRPr sz="1400" b="1">
                  <a:solidFill>
                    <a:srgbClr val="555555"/>
                  </a:solidFill>
                  <a:latin typeface="Calibri"/>
                </a:defRPr>
              </a:pPr>
              <a:r>
                <a:rPr dirty="0"/>
                <a:t>(Prompt, other data sources)</a:t>
              </a:r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r>
                <a:rPr dirty="0"/>
                <a:t>What data goes into the prompt? Where does it come from? What format?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874746" y="1143000"/>
              <a:ext cx="457200" cy="4114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2200"/>
              </a:pPr>
              <a:r>
                <a:rPr dirty="0"/>
                <a:t>🌐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1970761-C9A6-36D9-9374-88C4ABB7BA00}"/>
              </a:ext>
            </a:extLst>
          </p:cNvPr>
          <p:cNvGrpSpPr/>
          <p:nvPr/>
        </p:nvGrpSpPr>
        <p:grpSpPr>
          <a:xfrm>
            <a:off x="5785415" y="984313"/>
            <a:ext cx="3024000" cy="3132000"/>
            <a:chOff x="8514826" y="1051560"/>
            <a:chExt cx="2431907" cy="3240450"/>
          </a:xfrm>
        </p:grpSpPr>
        <p:sp>
          <p:nvSpPr>
            <p:cNvPr id="15" name="Rectangle 14"/>
            <p:cNvSpPr/>
            <p:nvPr/>
          </p:nvSpPr>
          <p:spPr>
            <a:xfrm>
              <a:off x="8514826" y="1051560"/>
              <a:ext cx="2431907" cy="32404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679418" y="1216152"/>
              <a:ext cx="2131674" cy="29112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r>
                <a:rPr dirty="0"/>
                <a:t>Outputs</a:t>
              </a:r>
            </a:p>
            <a:p>
              <a:pPr>
                <a:spcAft>
                  <a:spcPts val="500"/>
                </a:spcAft>
                <a:defRPr sz="1400" b="1">
                  <a:solidFill>
                    <a:srgbClr val="555555"/>
                  </a:solidFill>
                  <a:latin typeface="Calibri"/>
                </a:defRPr>
              </a:pPr>
              <a:r>
                <a:rPr dirty="0"/>
                <a:t>(Structured vs unstructured, schema)</a:t>
              </a:r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r>
                <a:rPr dirty="0"/>
                <a:t>What does the LLM output look like? Structured or unstructured? What constraints?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427044" y="1143000"/>
              <a:ext cx="457200" cy="4114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2200"/>
              </a:pPr>
              <a:r>
                <a:t>☁️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F1C9941-03AA-DD7A-36E8-4F6F529B7EA7}"/>
              </a:ext>
            </a:extLst>
          </p:cNvPr>
          <p:cNvGrpSpPr/>
          <p:nvPr/>
        </p:nvGrpSpPr>
        <p:grpSpPr>
          <a:xfrm>
            <a:off x="2672477" y="7447309"/>
            <a:ext cx="3024000" cy="3146400"/>
            <a:chOff x="2806298" y="8108532"/>
            <a:chExt cx="2460858" cy="3654125"/>
          </a:xfrm>
        </p:grpSpPr>
        <p:sp>
          <p:nvSpPr>
            <p:cNvPr id="21" name="Rectangle 20"/>
            <p:cNvSpPr/>
            <p:nvPr/>
          </p:nvSpPr>
          <p:spPr>
            <a:xfrm>
              <a:off x="2806298" y="8108532"/>
              <a:ext cx="2460858" cy="36541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970890" y="8273124"/>
              <a:ext cx="2131674" cy="23174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r>
                <a:rPr dirty="0"/>
                <a:t>Success metrics</a:t>
              </a:r>
            </a:p>
            <a:p>
              <a:pPr>
                <a:spcAft>
                  <a:spcPts val="500"/>
                </a:spcAft>
                <a:defRPr sz="1400" b="1">
                  <a:solidFill>
                    <a:srgbClr val="555555"/>
                  </a:solidFill>
                  <a:latin typeface="Calibri"/>
                </a:defRPr>
              </a:pPr>
              <a:r>
                <a:rPr dirty="0"/>
                <a:t>(e.g. accuracy, adoption)</a:t>
              </a:r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r>
                <a:rPr dirty="0"/>
                <a:t>What are your target metrics?</a:t>
              </a:r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endParaRPr dirty="0"/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r>
                <a:rPr dirty="0"/>
                <a:t>•  Accuracy: ?%</a:t>
              </a:r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r>
                <a:rPr dirty="0"/>
                <a:t>•  Latency: ?</a:t>
              </a:r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r>
                <a:rPr dirty="0"/>
                <a:t>•  Adoption: ?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718516" y="8199972"/>
              <a:ext cx="457200" cy="4114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2200"/>
              </a:pPr>
              <a:r>
                <a:t>📋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CBA92D63-0013-0114-959A-877E32736300}"/>
              </a:ext>
            </a:extLst>
          </p:cNvPr>
          <p:cNvGrpSpPr/>
          <p:nvPr/>
        </p:nvGrpSpPr>
        <p:grpSpPr>
          <a:xfrm>
            <a:off x="5783807" y="4219766"/>
            <a:ext cx="3024000" cy="3139200"/>
            <a:chOff x="8403066" y="8108532"/>
            <a:chExt cx="2460858" cy="3654125"/>
          </a:xfrm>
        </p:grpSpPr>
        <p:sp>
          <p:nvSpPr>
            <p:cNvPr id="27" name="Rectangle 26"/>
            <p:cNvSpPr/>
            <p:nvPr/>
          </p:nvSpPr>
          <p:spPr>
            <a:xfrm>
              <a:off x="8403066" y="8108532"/>
              <a:ext cx="2460858" cy="36541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567658" y="8273124"/>
              <a:ext cx="2131674" cy="33249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r>
                <a:t>LLMX</a:t>
              </a:r>
            </a:p>
            <a:p>
              <a:pPr>
                <a:spcAft>
                  <a:spcPts val="500"/>
                </a:spcAft>
                <a:defRPr sz="1400" b="1">
                  <a:solidFill>
                    <a:srgbClr val="555555"/>
                  </a:solidFill>
                  <a:latin typeface="Calibri"/>
                </a:defRPr>
              </a:pPr>
              <a:r>
                <a:t>(Which services will an LLM/agent use, how will it know how to use them)</a:t>
              </a:r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r>
                <a:t>Is this a pure prompt, or does the LLM use tools/agents? What integrations are needed?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315284" y="8199972"/>
              <a:ext cx="457200" cy="4114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2200"/>
              </a:pPr>
              <a:r>
                <a:t>🧠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29B4963-8097-B113-96A9-3AFCEFD0077F}"/>
              </a:ext>
            </a:extLst>
          </p:cNvPr>
          <p:cNvGrpSpPr/>
          <p:nvPr/>
        </p:nvGrpSpPr>
        <p:grpSpPr>
          <a:xfrm>
            <a:off x="8898147" y="988859"/>
            <a:ext cx="6120000" cy="3138585"/>
            <a:chOff x="365760" y="8129015"/>
            <a:chExt cx="8057626" cy="2286000"/>
          </a:xfrm>
        </p:grpSpPr>
        <p:sp>
          <p:nvSpPr>
            <p:cNvPr id="30" name="Rectangle 29"/>
            <p:cNvSpPr/>
            <p:nvPr/>
          </p:nvSpPr>
          <p:spPr>
            <a:xfrm>
              <a:off x="365760" y="8129015"/>
              <a:ext cx="8057626" cy="2286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30351" y="8221217"/>
              <a:ext cx="7728442" cy="9284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r>
                <a:rPr lang="en-US" dirty="0"/>
                <a:t>Definition of Done</a:t>
              </a:r>
            </a:p>
            <a:p>
              <a:pPr>
                <a:spcAft>
                  <a:spcPts val="500"/>
                </a:spcAft>
                <a:defRPr sz="1400" b="1">
                  <a:solidFill>
                    <a:srgbClr val="555555"/>
                  </a:solidFill>
                  <a:latin typeface="Calibri"/>
                </a:defRPr>
              </a:pPr>
              <a:r>
                <a:rPr lang="en-US" dirty="0"/>
                <a:t>Rubric/completion criteria</a:t>
              </a:r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r>
                <a:rPr lang="en-US" dirty="0"/>
                <a:t>How do we know that the workflow (pipeline) has been completed, or goal achieved (agentic).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865151" y="8220455"/>
              <a:ext cx="466795" cy="43088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2200"/>
              </a:pPr>
              <a:r>
                <a:rPr lang="en-NZ" dirty="0"/>
                <a:t>✅</a:t>
              </a:r>
              <a:endParaRPr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A14AFDC-2B9B-7D0B-CADB-013E52BD61A2}"/>
              </a:ext>
            </a:extLst>
          </p:cNvPr>
          <p:cNvGrpSpPr/>
          <p:nvPr/>
        </p:nvGrpSpPr>
        <p:grpSpPr>
          <a:xfrm>
            <a:off x="8882024" y="7465930"/>
            <a:ext cx="6119284" cy="3138585"/>
            <a:chOff x="8514826" y="8129015"/>
            <a:chExt cx="6206352" cy="2286000"/>
          </a:xfrm>
        </p:grpSpPr>
        <p:sp>
          <p:nvSpPr>
            <p:cNvPr id="33" name="Rectangle 32"/>
            <p:cNvSpPr/>
            <p:nvPr/>
          </p:nvSpPr>
          <p:spPr>
            <a:xfrm>
              <a:off x="8514826" y="8129015"/>
              <a:ext cx="6206352" cy="2286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8679418" y="8214321"/>
              <a:ext cx="5914406" cy="64889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r>
                <a:rPr lang="en-NZ" dirty="0"/>
                <a:t>Solution</a:t>
              </a:r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r>
                <a:rPr lang="en-NZ" dirty="0"/>
                <a:t>How will your AI/LLM solution work at a high level?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4200182" y="8220455"/>
              <a:ext cx="466794" cy="43088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2200"/>
              </a:pPr>
              <a:r>
                <a:rPr lang="en-NZ" dirty="0"/>
                <a:t>💡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F875A52-071C-E78D-5327-F97186BA86B8}"/>
              </a:ext>
            </a:extLst>
          </p:cNvPr>
          <p:cNvGrpSpPr/>
          <p:nvPr/>
        </p:nvGrpSpPr>
        <p:grpSpPr>
          <a:xfrm>
            <a:off x="2670991" y="4217567"/>
            <a:ext cx="3024000" cy="3138586"/>
            <a:chOff x="5358596" y="8118575"/>
            <a:chExt cx="3024000" cy="3654125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C9B1B7E1-1AB7-9AA9-2C78-15D922E0129E}"/>
                </a:ext>
              </a:extLst>
            </p:cNvPr>
            <p:cNvGrpSpPr/>
            <p:nvPr/>
          </p:nvGrpSpPr>
          <p:grpSpPr>
            <a:xfrm>
              <a:off x="5358596" y="8118575"/>
              <a:ext cx="3024000" cy="3654125"/>
              <a:chOff x="5358596" y="8118575"/>
              <a:chExt cx="3024000" cy="3654125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A32C9F4-B19A-E800-0EBA-07334C6A6F6B}"/>
                  </a:ext>
                </a:extLst>
              </p:cNvPr>
              <p:cNvSpPr/>
              <p:nvPr/>
            </p:nvSpPr>
            <p:spPr>
              <a:xfrm>
                <a:off x="5358596" y="8118575"/>
                <a:ext cx="3024000" cy="365412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CCCCCC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DE319AE-9D8D-E736-A177-A1E9C4E612EA}"/>
                  </a:ext>
                </a:extLst>
              </p:cNvPr>
              <p:cNvSpPr txBox="1"/>
              <p:nvPr/>
            </p:nvSpPr>
            <p:spPr>
              <a:xfrm>
                <a:off x="5523188" y="8273124"/>
                <a:ext cx="2623846" cy="33249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300"/>
                  </a:spcAft>
                  <a:defRPr sz="1800" b="1">
                    <a:solidFill>
                      <a:srgbClr val="333333"/>
                    </a:solidFill>
                    <a:latin typeface="Calibri"/>
                  </a:defRPr>
                </a:pPr>
                <a:r>
                  <a:rPr dirty="0"/>
                  <a:t>UX</a:t>
                </a:r>
              </a:p>
              <a:p>
                <a:pPr>
                  <a:spcAft>
                    <a:spcPts val="500"/>
                  </a:spcAft>
                  <a:defRPr sz="1400" b="1">
                    <a:solidFill>
                      <a:srgbClr val="555555"/>
                    </a:solidFill>
                    <a:latin typeface="Calibri"/>
                  </a:defRPr>
                </a:pPr>
                <a:r>
                  <a:rPr dirty="0"/>
                  <a:t>(Modality, augmentation, feedback)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  <a:defRPr sz="1400" i="1">
                    <a:solidFill>
                      <a:srgbClr val="AAAAAA"/>
                    </a:solidFill>
                    <a:latin typeface="Calibri"/>
                  </a:defRPr>
                </a:pPr>
                <a:r>
                  <a:rPr dirty="0"/>
                  <a:t>How will users interact with this feature? How do they validate or give feedback on outputs?</a:t>
                </a:r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BA91F30-0E6F-A6B3-E1A6-DF063DF3F48A}"/>
                </a:ext>
              </a:extLst>
            </p:cNvPr>
            <p:cNvSpPr txBox="1"/>
            <p:nvPr/>
          </p:nvSpPr>
          <p:spPr>
            <a:xfrm>
              <a:off x="7762986" y="8199972"/>
              <a:ext cx="457200" cy="4114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2200"/>
              </a:pPr>
              <a:r>
                <a:t>✨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A11401E0-E044-30E9-F58C-C41750DC7DFB}"/>
              </a:ext>
            </a:extLst>
          </p:cNvPr>
          <p:cNvGrpSpPr/>
          <p:nvPr/>
        </p:nvGrpSpPr>
        <p:grpSpPr>
          <a:xfrm>
            <a:off x="5771006" y="7467143"/>
            <a:ext cx="3024000" cy="3146400"/>
            <a:chOff x="2806298" y="8108532"/>
            <a:chExt cx="2460858" cy="3654125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E11ECE9-6802-9383-1BA1-631F925679D8}"/>
                </a:ext>
              </a:extLst>
            </p:cNvPr>
            <p:cNvSpPr/>
            <p:nvPr/>
          </p:nvSpPr>
          <p:spPr>
            <a:xfrm>
              <a:off x="2806298" y="8108532"/>
              <a:ext cx="2460858" cy="36541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69D330CA-0E2F-9033-59DF-BC5B4BBD5F4B}"/>
                </a:ext>
              </a:extLst>
            </p:cNvPr>
            <p:cNvSpPr txBox="1"/>
            <p:nvPr/>
          </p:nvSpPr>
          <p:spPr>
            <a:xfrm>
              <a:off x="2970890" y="8273124"/>
              <a:ext cx="2131674" cy="33629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r>
                <a:rPr lang="en-NZ" dirty="0"/>
                <a:t>Evaluation</a:t>
              </a:r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r>
                <a:rPr lang="en-NZ" dirty="0"/>
                <a:t>How will you measure accuracy and quality?</a:t>
              </a:r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endParaRPr lang="en-NZ" dirty="0"/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r>
                <a:rPr lang="en-NZ" dirty="0"/>
                <a:t>What does your test set look like?</a:t>
              </a:r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endParaRPr lang="en-NZ" dirty="0"/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r>
                <a:rPr lang="en-NZ" dirty="0"/>
                <a:t>How will you validate outputs against ground truth?</a:t>
              </a:r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endParaRPr lang="en-NZ" dirty="0"/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r>
                <a:rPr lang="en-NZ" dirty="0"/>
                <a:t>How will you monitor ongoing quality and detect model drift?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30CBADF-4D17-EC2F-4120-814E7FA47F51}"/>
                </a:ext>
              </a:extLst>
            </p:cNvPr>
            <p:cNvSpPr txBox="1"/>
            <p:nvPr/>
          </p:nvSpPr>
          <p:spPr>
            <a:xfrm>
              <a:off x="4795850" y="8199972"/>
              <a:ext cx="379866" cy="50041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2200"/>
              </a:pPr>
              <a:r>
                <a:rPr lang="en-NZ" dirty="0"/>
                <a:t>🏃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40FE780C-095E-EAF8-970B-B3AD667F594F}"/>
              </a:ext>
            </a:extLst>
          </p:cNvPr>
          <p:cNvGrpSpPr/>
          <p:nvPr/>
        </p:nvGrpSpPr>
        <p:grpSpPr>
          <a:xfrm>
            <a:off x="8889479" y="4214827"/>
            <a:ext cx="3024000" cy="3146400"/>
            <a:chOff x="2806298" y="8108532"/>
            <a:chExt cx="2460858" cy="3654125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51FCBDE4-2C18-2E74-CC64-F49A35660565}"/>
                </a:ext>
              </a:extLst>
            </p:cNvPr>
            <p:cNvSpPr/>
            <p:nvPr/>
          </p:nvSpPr>
          <p:spPr>
            <a:xfrm>
              <a:off x="2806298" y="8108532"/>
              <a:ext cx="2460858" cy="36541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046E379-A733-490C-912D-56054EB738F7}"/>
                </a:ext>
              </a:extLst>
            </p:cNvPr>
            <p:cNvSpPr txBox="1"/>
            <p:nvPr/>
          </p:nvSpPr>
          <p:spPr>
            <a:xfrm>
              <a:off x="2970890" y="8273124"/>
              <a:ext cx="2131674" cy="12540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r>
                <a:rPr lang="en-NZ" dirty="0"/>
                <a:t>Costs</a:t>
              </a:r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r>
                <a:rPr lang="en-NZ" dirty="0"/>
                <a:t>What are the estimated LLM inference costs? (tokens, model, volume)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AD1E566-AAC3-68D2-2727-D5CD5943DBA3}"/>
                </a:ext>
              </a:extLst>
            </p:cNvPr>
            <p:cNvSpPr txBox="1"/>
            <p:nvPr/>
          </p:nvSpPr>
          <p:spPr>
            <a:xfrm>
              <a:off x="4795849" y="8199972"/>
              <a:ext cx="379866" cy="50041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2200"/>
              </a:pPr>
              <a:r>
                <a:rPr lang="en-NZ" dirty="0"/>
                <a:t>📊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4B054B8-7242-8363-7D65-E921A54EA611}"/>
              </a:ext>
            </a:extLst>
          </p:cNvPr>
          <p:cNvGrpSpPr/>
          <p:nvPr/>
        </p:nvGrpSpPr>
        <p:grpSpPr>
          <a:xfrm>
            <a:off x="11988008" y="4214827"/>
            <a:ext cx="3024000" cy="3146400"/>
            <a:chOff x="2806298" y="8108532"/>
            <a:chExt cx="2460858" cy="3654125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7F5F4925-7EC9-48DA-4511-0DD1081912C0}"/>
                </a:ext>
              </a:extLst>
            </p:cNvPr>
            <p:cNvSpPr/>
            <p:nvPr/>
          </p:nvSpPr>
          <p:spPr>
            <a:xfrm>
              <a:off x="2806298" y="8108532"/>
              <a:ext cx="2460858" cy="36541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CCC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D7FFB74-429E-1191-6B7A-C84C106B3FFA}"/>
                </a:ext>
              </a:extLst>
            </p:cNvPr>
            <p:cNvSpPr txBox="1"/>
            <p:nvPr/>
          </p:nvSpPr>
          <p:spPr>
            <a:xfrm>
              <a:off x="2970890" y="8273124"/>
              <a:ext cx="2131674" cy="12540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  <a:defRPr sz="1800" b="1">
                  <a:solidFill>
                    <a:srgbClr val="333333"/>
                  </a:solidFill>
                  <a:latin typeface="Calibri"/>
                </a:defRPr>
              </a:pPr>
              <a:r>
                <a:rPr lang="en-NZ" dirty="0"/>
                <a:t>Pricing</a:t>
              </a:r>
            </a:p>
            <a:p>
              <a:pPr>
                <a:spcBef>
                  <a:spcPts val="200"/>
                </a:spcBef>
                <a:spcAft>
                  <a:spcPts val="200"/>
                </a:spcAft>
                <a:defRPr sz="1400" i="1">
                  <a:solidFill>
                    <a:srgbClr val="AAAAAA"/>
                  </a:solidFill>
                  <a:latin typeface="Calibri"/>
                </a:defRPr>
              </a:pPr>
              <a:r>
                <a:rPr lang="en-NZ" dirty="0"/>
                <a:t>How will this feature be priced or packaged? What is the margin impact?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7A33B6E1-C523-77A9-481D-41E8FEDDB7BA}"/>
                </a:ext>
              </a:extLst>
            </p:cNvPr>
            <p:cNvSpPr txBox="1"/>
            <p:nvPr/>
          </p:nvSpPr>
          <p:spPr>
            <a:xfrm>
              <a:off x="4795850" y="8199972"/>
              <a:ext cx="379866" cy="50041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>
                <a:defRPr sz="2200"/>
              </a:pPr>
              <a:r>
                <a:rPr lang="en-NZ" dirty="0"/>
                <a:t>💰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301</Words>
  <Application>Microsoft Macintosh PowerPoint</Application>
  <PresentationFormat>Custom</PresentationFormat>
  <Paragraphs>64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MacDonald, David</cp:lastModifiedBy>
  <cp:revision>23</cp:revision>
  <dcterms:created xsi:type="dcterms:W3CDTF">2013-01-27T09:14:16Z</dcterms:created>
  <dcterms:modified xsi:type="dcterms:W3CDTF">2026-06-22T00:51:13Z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2026-03-15T20:22:13Z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d93393a7-c621-4def-a340-9598afc1f141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